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91919"/>
                </a:solidFill>
                <a:latin typeface="Aptos"/>
              </a:rPr>
              <a:t>BHOOMISETU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1567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0376E"/>
                </a:solidFill>
                <a:latin typeface="Aptos"/>
              </a:rPr>
              <a:t>AI-Powered Land Record Intelligence &amp; Validation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5468112" cy="384048"/>
          </a:xfrm>
          <a:prstGeom prst="roundRect">
            <a:avLst/>
          </a:prstGeom>
          <a:solidFill>
            <a:srgbClr val="10376E"/>
          </a:solidFill>
          <a:ln>
            <a:solidFill>
              <a:srgbClr val="10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33272"/>
            <a:ext cx="54681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FOR REVENUE OFFICERS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005840"/>
            <a:ext cx="5468112" cy="384048"/>
          </a:xfrm>
          <a:prstGeom prst="roundRect">
            <a:avLst/>
          </a:prstGeom>
          <a:solidFill>
            <a:srgbClr val="10376E"/>
          </a:solidFill>
          <a:ln>
            <a:solidFill>
              <a:srgbClr val="10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7648" y="1033272"/>
            <a:ext cx="54681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AI-POWERED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81328"/>
            <a:ext cx="1536192" cy="32004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5" y="1513332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10376E"/>
                </a:solidFill>
                <a:latin typeface="Aptos"/>
              </a:rPr>
              <a:t>1. SMART DOCUMENT INTAKE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1472184"/>
            <a:ext cx="3840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Upload scanned PDFs, images and handwritten land records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Batch processing for multiple pages/documents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Automatic image cleanup: deskew, denoise and contrast enhancement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386584"/>
            <a:ext cx="1536192" cy="320040"/>
          </a:xfrm>
          <a:prstGeom prst="roundRect">
            <a:avLst/>
          </a:prstGeom>
          <a:solidFill>
            <a:srgbClr val="E7F1FF"/>
          </a:solidFill>
          <a:ln>
            <a:solidFill>
              <a:srgbClr val="E7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" y="241858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10376E"/>
                </a:solidFill>
                <a:latin typeface="Aptos"/>
              </a:rPr>
              <a:t>2. STRUCTURED DIGITIZATION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2377440"/>
            <a:ext cx="3840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Multilingual OCR for Kannada, English, Hindi and extensible Indian languages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AI extracts owner, survey/khasra, khata, area, village, taluk, district and land details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Converts unstructured documents into searchable digital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291840"/>
            <a:ext cx="1536192" cy="320040"/>
          </a:xfrm>
          <a:prstGeom prst="roundRect">
            <a:avLst/>
          </a:prstGeom>
          <a:solidFill>
            <a:srgbClr val="DDF7EB"/>
          </a:solidFill>
          <a:ln>
            <a:solidFill>
              <a:srgbClr val="DD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" y="3323844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10376E"/>
                </a:solidFill>
                <a:latin typeface="Aptos"/>
              </a:rPr>
              <a:t>3. VALIDATION &amp; RISK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47672" y="3282696"/>
            <a:ext cx="3840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Business-rule and reference-record validation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Detects field conflicts, inconsistent values and possible duplicates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Generates field-level and overall confidence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97096"/>
            <a:ext cx="1536192" cy="320040"/>
          </a:xfrm>
          <a:prstGeom prst="roundRect">
            <a:avLst/>
          </a:prstGeom>
          <a:solidFill>
            <a:srgbClr val="EEE5FF"/>
          </a:solidFill>
          <a:ln>
            <a:solidFill>
              <a:srgbClr val="E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5" y="4229100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10376E"/>
                </a:solidFill>
                <a:latin typeface="Aptos"/>
              </a:rPr>
              <a:t>4. HUMAN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47672" y="4187952"/>
            <a:ext cx="3840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Side-by-side original document and extracted data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Officer can edit, approve or reject uncertain records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Every correction is recorded for audit and future model improvement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481328"/>
            <a:ext cx="1691640" cy="320040"/>
          </a:xfrm>
          <a:prstGeom prst="roundRect">
            <a:avLst/>
          </a:prstGeom>
          <a:solidFill>
            <a:srgbClr val="E7F1FF"/>
          </a:solidFill>
          <a:ln>
            <a:solidFill>
              <a:srgbClr val="E7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513332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0376E"/>
                </a:solidFill>
                <a:latin typeface="Aptos"/>
              </a:rPr>
              <a:t>MULTILINGUAL OCR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0727" y="1472184"/>
            <a:ext cx="368503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Extract text from faded, noisy and handwritten records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Preserve page/document structure for downstream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2386584"/>
            <a:ext cx="1691640" cy="32004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418588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0376E"/>
                </a:solidFill>
                <a:latin typeface="Aptos"/>
              </a:rPr>
              <a:t>AI FIELD EXTRACTION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2377440"/>
            <a:ext cx="368503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Map OCR text into standardized land-record fields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Handle variations in names, numbers and document formats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3291840"/>
            <a:ext cx="1691640" cy="320040"/>
          </a:xfrm>
          <a:prstGeom prst="roundRect">
            <a:avLst/>
          </a:prstGeom>
          <a:solidFill>
            <a:srgbClr val="DDF7EB"/>
          </a:solidFill>
          <a:ln>
            <a:solidFill>
              <a:srgbClr val="DD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3323844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0376E"/>
                </a:solidFill>
                <a:latin typeface="Aptos"/>
              </a:rPr>
              <a:t>VALIDATION + DUPLICATE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0727" y="3282696"/>
            <a:ext cx="368503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Compare extracted values with reference/mock records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Flag mismatches, duplicates and suspicious inconsistencies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4197096"/>
            <a:ext cx="1691640" cy="320040"/>
          </a:xfrm>
          <a:prstGeom prst="roundRect">
            <a:avLst/>
          </a:prstGeom>
          <a:solidFill>
            <a:srgbClr val="EEE5FF"/>
          </a:solidFill>
          <a:ln>
            <a:solidFill>
              <a:srgbClr val="EE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4229100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10376E"/>
                </a:solidFill>
                <a:latin typeface="Aptos"/>
              </a:rPr>
              <a:t>TRUST SCORE + EXPLAINABILITY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0727" y="4187952"/>
            <a:ext cx="368503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Explain why a record is flagged</a:t>
            </a:r>
          </a:p>
          <a:p>
            <a:pPr>
              <a:spcAft>
                <a:spcPts val="300"/>
              </a:spcAft>
              <a:defRPr sz="940">
                <a:solidFill>
                  <a:srgbClr val="191919"/>
                </a:solidFill>
                <a:latin typeface="Aptos"/>
              </a:defRPr>
            </a:pPr>
            <a:r>
              <a:t>• Prioritize low-confidence/high-risk records for officers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166360"/>
            <a:ext cx="11475720" cy="365760"/>
          </a:xfrm>
          <a:prstGeom prst="roundRect">
            <a:avLst/>
          </a:prstGeom>
          <a:solidFill>
            <a:srgbClr val="10376E"/>
          </a:solidFill>
          <a:ln>
            <a:solidFill>
              <a:srgbClr val="10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202936"/>
            <a:ext cx="11292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596128"/>
            <a:ext cx="3611880" cy="859536"/>
          </a:xfrm>
          <a:prstGeom prst="roundRect">
            <a:avLst/>
          </a:prstGeom>
          <a:solidFill>
            <a:srgbClr val="E7F1FF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5669280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376E"/>
                </a:solidFill>
                <a:latin typeface="Aptos"/>
              </a:rPr>
              <a:t>LAND RECORD TRUST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5907024"/>
            <a:ext cx="3429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191919"/>
                </a:solidFill>
                <a:latin typeface="Aptos"/>
              </a:rPr>
              <a:t>Explainable 0–100 reliability score using OCR confidence, validation, conflicts and duplicate risk.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5596128"/>
            <a:ext cx="3611880" cy="859536"/>
          </a:xfrm>
          <a:prstGeom prst="roundRect">
            <a:avLst/>
          </a:prstGeom>
          <a:solidFill>
            <a:srgbClr val="FFEBCD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5669280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376E"/>
                </a:solidFill>
                <a:latin typeface="Aptos"/>
              </a:rPr>
              <a:t>CONFLICT EXPLANATION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9392" y="5907024"/>
            <a:ext cx="3429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191919"/>
                </a:solidFill>
                <a:latin typeface="Aptos"/>
              </a:rPr>
              <a:t>Shows exactly which fields disagree and why the record needs human review.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8" y="5596128"/>
            <a:ext cx="3611880" cy="859536"/>
          </a:xfrm>
          <a:prstGeom prst="roundRect">
            <a:avLst/>
          </a:prstGeom>
          <a:solidFill>
            <a:srgbClr val="DDF7EB"/>
          </a:solidFill>
          <a:ln>
            <a:solidFill>
              <a:srgbClr val="B9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5669280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376E"/>
                </a:solidFill>
                <a:latin typeface="Aptos"/>
              </a:rPr>
              <a:t>INTEGRATION + GIS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5907024"/>
            <a:ext cx="3429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191919"/>
                </a:solidFill>
                <a:latin typeface="Aptos"/>
              </a:rPr>
              <a:t>APIs and map-ready structured data support future LRMS/DILRMP/GIS integration.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565392"/>
            <a:ext cx="11475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376E"/>
                </a:solidFill>
                <a:latin typeface="Aptos"/>
              </a:rPr>
              <a:t>Digitize • Validate • Verify • Build Trusted Digital Land 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